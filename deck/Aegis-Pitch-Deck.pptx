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F552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EAEE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52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DC9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Fiverr scam thread</c:v>
                  </c:pt>
                  <c:pt idx="1">
                    <c:v>Clean negotiation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EAEE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7A2B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7313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B11"/>
        </a:solidFill>
        <a:ln>
          <a:noFill/>
        </a:ln>
        <a:effectLst/>
      </c:spPr>
    </c:plotArea>
    <c:plotVisOnly val="1"/>
    <c:dispBlanksAs val="span"/>
  </c:chart>
  <c:spPr>
    <a:solidFill>
      <a:srgbClr val="080B1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Aegis is an AI voice arbitrator for peer-to-peer gig work. Everything in this deck is running in production — live demo link on screen. I'll show you the problem, three pillars, and the engineering that makes the money side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fraud in gig work is conversational. It happens in the negotiation itself, which is exactly where no software has ever been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beats: talk, extract, lock, settle. The whole product is making each of those trustworthy enough that two strangers don't need to trust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 here is that the contract is visible while you are still talking. You catch a misheard price before any money moves, not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post-hoc analysis. It runs during the call, and it can stop the transaction. The halt is a hard gate on the money path, not a warning banner.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piece I'd point a judge at. It defeats deepfake authorisation using latency rather than voice biometrics, so it costs nothing and needs no enrolment.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reel is the acquisition loop. A freelancer shares it because it makes them money, and every share advertises Aegis.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 points, not percentages, and integer arithmetic throughout. This is the part that makes autonomous settlement defensible rather than scary.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the hardest question a judge asks: who uses this on day one, before anyone changes their habits? Answer: anyone with a chat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is going to poke a hole, it will be here — an LLM moving money. The answer is that the LLM never moves money; it requests, and the database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came from an actual run against the deployed system, not an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Scalability question answered: media is peer-to-peer, state is Postgres, and the only per-transaction cost is model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 sentence that explains the whole product: Aegis holds the funds so neither party has to trust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834640"/>
            <a:ext cx="8229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-120" kern="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</a:t>
            </a:r>
            <a:endParaRPr lang="en-US" sz="6800" dirty="0"/>
          </a:p>
        </p:txBody>
      </p:sp>
      <p:sp>
        <p:nvSpPr>
          <p:cNvPr id="4" name="Text 1"/>
          <p:cNvSpPr/>
          <p:nvPr/>
        </p:nvSpPr>
        <p:spPr>
          <a:xfrm>
            <a:off x="658368" y="396849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escrow agent that listens to the deal being made.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58368" y="455371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AI voice arbitrator for peer-to-peer gig work. Two people talk. Aegis drafts the contract from what they actually said, holds the money, catches the manipulation, and verifies the work before it pays.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686800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8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 ·  Security  ·  Voice AI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863840" y="2139696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950" b="1" spc="120" kern="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950" dirty="0"/>
          </a:p>
          <a:p>
            <a:pPr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aiges-eight.vercel.app</a:t>
            </a:r>
            <a:endParaRPr lang="en-US" sz="950" dirty="0"/>
          </a:p>
          <a:p>
            <a:pPr algn="r" indent="0" marL="0">
              <a:lnSpc>
                <a:spcPts val="1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algn="r" indent="0" marL="0">
              <a:lnSpc>
                <a:spcPts val="1900"/>
              </a:lnSpc>
              <a:buNone/>
            </a:pPr>
            <a:r>
              <a:rPr lang="en-US" sz="950" b="1" spc="120" kern="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50" dirty="0"/>
          </a:p>
          <a:p>
            <a:pPr algn="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github.com/SumedhKolte/aegis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Sumedh Kolte  ·  AI for Impact — Independence Day Hackathon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Peer-to-peer work runs on trust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nobody verifies.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212848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freelancer agrees a price in a Fiverr DM or a Discord call, does the work, and hopes.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is conversational — it happens inside the negotiation, where no software is watching.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3255264"/>
            <a:ext cx="402336" cy="402336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32004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is priced for deals 100x larger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350215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escrow is too slow and too expensive to sit under a $250 job. So nobody uses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4315968"/>
            <a:ext cx="402336" cy="402336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426110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platforms offer zero protection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61872" y="456285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place the deal is actually agreed has no concept of money, contracts, or recourse.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5376672"/>
            <a:ext cx="402336" cy="402336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5376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532180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scam happens before payment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61872" y="56235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Off-platform payment pushes, late price changes, manufactured urgency. All spoken, all unrecorded.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49640" y="3145536"/>
            <a:ext cx="2953512" cy="3200400"/>
          </a:xfrm>
          <a:prstGeom prst="roundRect">
            <a:avLst>
              <a:gd name="adj" fmla="val 2786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3529584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$556B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549640" y="4261104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freelance economy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96528" y="4718304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none of it is escrowed. The smaller the deal, the less protected it is —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small deals are most of the market.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sits inside the negotiation.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59105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form. Not a payment link. A neutral third party in the room, listening to the deal as it is made.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2212848"/>
            <a:ext cx="2578608" cy="3127248"/>
          </a:xfrm>
          <a:prstGeom prst="roundRect">
            <a:avLst>
              <a:gd name="adj" fmla="val 3191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523744"/>
            <a:ext cx="420624" cy="420624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31272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3511296"/>
            <a:ext cx="2066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parties join a voice room and negotiate out loud. Aegis listens as a neutral party.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212848"/>
            <a:ext cx="2578608" cy="3127248"/>
          </a:xfrm>
          <a:prstGeom prst="roundRect">
            <a:avLst>
              <a:gd name="adj" fmla="val 3191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523744"/>
            <a:ext cx="420624" cy="420624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31272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3511296"/>
            <a:ext cx="2066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pulls the item, the price and the release condition from speech, publishing each to both screens as it hears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2212848"/>
            <a:ext cx="2578608" cy="3127248"/>
          </a:xfrm>
          <a:prstGeom prst="roundRect">
            <a:avLst>
              <a:gd name="adj" fmla="val 3191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2523744"/>
            <a:ext cx="420624" cy="420624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73952" y="31272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73952" y="3511296"/>
            <a:ext cx="2066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two separate spoken agreements — and a passed liveness check — it calls a tool that locks the funds in escrow.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70264" y="2212848"/>
            <a:ext cx="2578608" cy="3127248"/>
          </a:xfrm>
          <a:prstGeom prst="roundRect">
            <a:avLst>
              <a:gd name="adj" fmla="val 3191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44584" y="2523744"/>
            <a:ext cx="420624" cy="420624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4584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44584" y="31272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44584" y="3511296"/>
            <a:ext cx="2066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verifies the delivered work. If challenged, a three-agent jury splits the escrow to the cent.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5623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party unmutes to take the floor, conference-call style — so Aegis always knows exactly who is speaking.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— FINTECH + VOICE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Escrow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do not fill out forms. They simply talk to each other, and the contract assembles itself on screen.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28600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extracted live from speech over the OpenAI Realtime API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term published to both parties the moment it is heard, so a misheard price surfaces before money is committed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lock only on two separate spoken agreements, collected one party at a time by name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arbitrator chairs the room: it relays each offer to the other side and asks them directly to accept or reject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0" y="2212848"/>
            <a:ext cx="3730752" cy="3566160"/>
          </a:xfrm>
          <a:prstGeom prst="roundRect">
            <a:avLst>
              <a:gd name="adj" fmla="val 2308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01584" y="24871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HEARD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0" y="24871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01584" y="3054096"/>
            <a:ext cx="146304" cy="146304"/>
          </a:xfrm>
          <a:prstGeom prst="ellipse">
            <a:avLst/>
          </a:prstGeom>
          <a:solidFill>
            <a:srgbClr val="14C9B8"/>
          </a:solidFill>
          <a:ln w="12700">
            <a:solidFill>
              <a:srgbClr val="14C9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75904" y="29443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375904" y="3182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redesign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01584" y="3968496"/>
            <a:ext cx="146304" cy="146304"/>
          </a:xfrm>
          <a:prstGeom prst="ellipse">
            <a:avLst/>
          </a:prstGeom>
          <a:solidFill>
            <a:srgbClr val="14C9B8"/>
          </a:solidFill>
          <a:ln w="12700">
            <a:solidFill>
              <a:srgbClr val="14C9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75904" y="4096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$250.00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01584" y="4882896"/>
            <a:ext cx="146304" cy="146304"/>
          </a:xfrm>
          <a:prstGeom prst="ellipse">
            <a:avLst/>
          </a:prstGeom>
          <a:solidFill>
            <a:srgbClr val="14C9B8"/>
          </a:solidFill>
          <a:ln w="12700">
            <a:solidFill>
              <a:srgbClr val="14C9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47731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WHEN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75904" y="5010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file delivered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01584" y="53583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locked in escrow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—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Deception Forensics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fraud patterns, scored as they are spoken. Past a threshold Aegis interrupts with a Security Halt and refuses to lock anything.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157984"/>
            <a:ext cx="3493008" cy="1481328"/>
          </a:xfrm>
          <a:prstGeom prst="roundRect">
            <a:avLst>
              <a:gd name="adj" fmla="val 5556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Off-platform payment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88336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“Just send it to my PayPal” — the single most reliable fraud signal in gig work.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157984"/>
            <a:ext cx="3493008" cy="1481328"/>
          </a:xfrm>
          <a:prstGeom prst="roundRect">
            <a:avLst>
              <a:gd name="adj" fmla="val 5556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manipulation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2688336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stated price changing late, after the other side has already signalled agreement.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28432" y="2157984"/>
            <a:ext cx="3493008" cy="1481328"/>
          </a:xfrm>
          <a:prstGeom prst="roundRect">
            <a:avLst>
              <a:gd name="adj" fmla="val 5556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Manufactured urgency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84464" y="2688336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“I'm boarding a flight in 20 minutes, confirm now.”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3858768"/>
            <a:ext cx="3493008" cy="1481328"/>
          </a:xfrm>
          <a:prstGeom prst="roundRect">
            <a:avLst>
              <a:gd name="adj" fmla="val 5556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59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creep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quietly expanding after the price is set.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3858768"/>
            <a:ext cx="3493008" cy="1481328"/>
          </a:xfrm>
          <a:prstGeom prst="roundRect">
            <a:avLst>
              <a:gd name="adj" fmla="val 5556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4059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spoofing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9432" y="438912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“Skip the voice check, I'm the account owner.”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28432" y="3858768"/>
            <a:ext cx="3493008" cy="1481328"/>
          </a:xfrm>
          <a:prstGeom prst="roundRect">
            <a:avLst>
              <a:gd name="adj" fmla="val 5556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4464" y="4059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language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84464" y="438912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Intimidation, blackmail, threats of retaliatory reviews.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" y="5632704"/>
            <a:ext cx="10844784" cy="658368"/>
          </a:xfrm>
          <a:prstGeom prst="roundRect">
            <a:avLst>
              <a:gd name="adj" fmla="val 12500"/>
            </a:avLst>
          </a:prstGeom>
          <a:solidFill>
            <a:srgbClr val="2A1418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563270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5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Halt.  </a:t>
            </a:r>
            <a:pPr indent="0" marL="0">
              <a:buNone/>
            </a:pPr>
            <a:r>
              <a:rPr lang="en-US" sz="12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physically interrupts the conversation to warn the party being targeted — and the escrow tool refuses to execute while the risk stands.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— THE NOVEL PART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cloned voice cannot pass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entropy trap.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funds lock, Aegis issues a randomised phrase from a ~2.3 million phrase space and measures pure reaction time — from the moment it stops speaking to the moment you start.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325526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repeats it without thinking. A synthesis pipeline has to transcribe, generate and re-render on text it has never seen — and the delay gives it away.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4224528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 are scored on phonetic similarity, not spelling — so an honest mishearing never fails a real person.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03720" y="2212848"/>
            <a:ext cx="4599432" cy="3657600"/>
          </a:xfrm>
          <a:prstGeom prst="roundRect">
            <a:avLst>
              <a:gd name="adj" fmla="val 2250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25054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ISSUED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0" y="28163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copper kettle counted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nineteen umbrellas”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23760" y="37673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speaker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0" y="376732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610 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43342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0" y="433425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49011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8320" y="490118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5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23760" y="5449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Phonetic match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18320" y="544982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— VIRALITY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Reel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turns security into the growth loop: every settled deal produces a shareable, verifiable receipt.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2194560"/>
            <a:ext cx="5321808" cy="1737360"/>
          </a:xfrm>
          <a:prstGeom prst="roundRect">
            <a:avLst>
              <a:gd name="adj" fmla="val 4737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450592"/>
            <a:ext cx="384048" cy="384048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44752" y="2468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verification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907792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seller uploads proof of the finished work. GPT-4o Vision checks it against the exact wording of the release condition before a cent moves.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321808" cy="1737360"/>
          </a:xfrm>
          <a:prstGeom prst="roundRect">
            <a:avLst>
              <a:gd name="adj" fmla="val 4737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450592"/>
            <a:ext cx="384048" cy="384048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58584" y="2468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narrated video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907792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1080×1920 vertical video with AI narration and burned-in subtitles, rendered entirely in the browser. No render farm, no upload.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4151376"/>
            <a:ext cx="5321808" cy="1737360"/>
          </a:xfrm>
          <a:prstGeom prst="roundRect">
            <a:avLst>
              <a:gd name="adj" fmla="val 4737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4407408"/>
            <a:ext cx="384048" cy="384048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44752" y="44256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overstate a payout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" y="486460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is read from the ledger. A jury-settled deal honestly shows what was actually received — even when that is zero.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151376"/>
            <a:ext cx="5321808" cy="1737360"/>
          </a:xfrm>
          <a:prstGeom prst="roundRect">
            <a:avLst>
              <a:gd name="adj" fmla="val 4737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407408"/>
            <a:ext cx="384048" cy="384048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58584" y="44256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Passport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486460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profile aggregating settled deals, trust score and escrowed volume. Each completed job compounds into proof worth sending a client.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ADJUDICATION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Jury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buyer claims the work is defective, three agents resolve it with no human intervention.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2194560"/>
            <a:ext cx="3493008" cy="2103120"/>
          </a:xfrm>
          <a:prstGeom prst="roundRect">
            <a:avLst>
              <a:gd name="adj" fmla="val 3913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450592"/>
            <a:ext cx="402336" cy="402336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29626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Buyer's Advocate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310128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strongest good-faith case that the deliverable fell short, citing the contract's exact words.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493008" cy="2103120"/>
          </a:xfrm>
          <a:prstGeom prst="roundRect">
            <a:avLst>
              <a:gd name="adj" fmla="val 3913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450592"/>
            <a:ext cx="402336" cy="402336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9626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Seller's Advocate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310128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Argues what the release condition actually required — versus what the buyer now wishes it had said.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2194560"/>
            <a:ext cx="3493008" cy="2103120"/>
          </a:xfrm>
          <a:prstGeom prst="roundRect">
            <a:avLst>
              <a:gd name="adj" fmla="val 3913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450592"/>
            <a:ext cx="402336" cy="402336"/>
          </a:xfrm>
          <a:prstGeom prst="ellipse">
            <a:avLst/>
          </a:prstGeom>
          <a:solidFill>
            <a:srgbClr val="0E3F3C"/>
          </a:solidFill>
          <a:ln w="17780">
            <a:solidFill>
              <a:srgbClr val="14C9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2752" y="29626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Magistrate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02752" y="3310128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Weighs both and issues a binding settlement in integer basis points. Ambiguity resolves against whoever could have made it precise.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4590288"/>
            <a:ext cx="10844784" cy="1481328"/>
          </a:xfrm>
          <a:prstGeom prst="roundRect">
            <a:avLst>
              <a:gd name="adj" fmla="val 5556"/>
            </a:avLst>
          </a:prstGeom>
          <a:solidFill>
            <a:srgbClr val="1A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7914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Mathematically exact settlement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7552" y="51389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$33.33 contract split 70 / 30 pays $23.33 and $10.00. The buyer absorbs the rounding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remainder, so the ledger nets to exactly zero. No cent is created or destroyed.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49440" y="502920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$23.33 seller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30768" y="502920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$10.00 buyer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12096" y="502920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 drift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Guardian: a market on day 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gig deals are agreed on Fiverr, Upwork or Discord long before anyone thinks about escrow. Guardian meets that reality — paste the conversation, get the same forensics, convert it to real escrow.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2542032"/>
            <a:ext cx="6492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six-pattern analysis, run over pasted text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must quote the source verbatim — the backend discards any quote it cannot locate in the conversation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never actually stated stay blank rather than being guessed, because an invented price would enter a real contract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counterparty needs no account until they accept the escrow invite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50292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voice room needed. Aegis becomes useful to someone who never opens 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2194560"/>
            <a:ext cx="3867912" cy="3566160"/>
          </a:xfrm>
          <a:prstGeom prst="roundRect">
            <a:avLst>
              <a:gd name="adj" fmla="val 2308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36992" y="24688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REAL THREADS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936992" y="2889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Fiverr scam thread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36992" y="316382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5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936992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5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PROCEED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36992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negotiation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36992" y="462686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936992" y="5285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· 0 findings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36992" y="5138928"/>
            <a:ext cx="3310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false positives on the clean thread — a false alarm on an honest client costs a freelancer real work.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side has to be boring.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escrow that cannot show its work is just a promise. Every design choice below exists to make the ledger auditable.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2194560"/>
            <a:ext cx="5321808" cy="1773936"/>
          </a:xfrm>
          <a:prstGeom prst="roundRect">
            <a:avLst>
              <a:gd name="adj" fmla="val 4639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4323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never touches a float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50976" y="281635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price_cents is authoritative. price_usd is a generated Postgres column derived from it, so the amount displayed and the amount settled cannot drift apart.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194560"/>
            <a:ext cx="5321808" cy="1773936"/>
          </a:xfrm>
          <a:prstGeom prst="roundRect">
            <a:avLst>
              <a:gd name="adj" fmla="val 4639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24323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append-only ledger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64808" y="281635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movement runs through SECURITY DEFINER functions that row-lock, validate and append in one transaction. Triggers reject any UPDATE or DELETE on ledger entries.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4187952"/>
            <a:ext cx="5321808" cy="1773936"/>
          </a:xfrm>
          <a:prstGeom prst="roundRect">
            <a:avLst>
              <a:gd name="adj" fmla="val 4639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4256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on the money path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50976" y="4809744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functions are revoked from anon and authenticated. Only the backend calls them — and it re-validates every argument the model produced before a cent moves.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4187952"/>
            <a:ext cx="5321808" cy="1773936"/>
          </a:xfrm>
          <a:prstGeom prst="roundRect">
            <a:avLst>
              <a:gd name="adj" fmla="val 4639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44256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gates before any lock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64808" y="4809744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risk below threshold, a passed live-speaker challenge, and real buyer solvency. A refusal is spoken aloud, not swallowed.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6035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the model says is trusted on its own. The AI decides; Postgres enforces.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asserted.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Guardian's fraud detection, scored on a realistic scam thread against a clean negotiation.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58368" y="2103120"/>
          <a:ext cx="6309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2103120"/>
            <a:ext cx="4096512" cy="950976"/>
          </a:xfrm>
          <a:prstGeom prst="roundRect">
            <a:avLst>
              <a:gd name="adj" fmla="val 8654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99248" y="224942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0" y="224942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drift through hold,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and fractional dispute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06640" y="3200400"/>
            <a:ext cx="4096512" cy="950976"/>
          </a:xfrm>
          <a:prstGeom prst="roundRect">
            <a:avLst>
              <a:gd name="adj" fmla="val 8654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99248" y="334670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144000" y="334670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on the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conversation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06640" y="4297680"/>
            <a:ext cx="4096512" cy="950976"/>
          </a:xfrm>
          <a:prstGeom prst="roundRect">
            <a:avLst>
              <a:gd name="adj" fmla="val 8654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99248" y="444398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610 ms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144000" y="444398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reaction time against a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ms synthesis threshold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406640" y="5413248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maths is covered by a self-verifying SQL suite that asserts the ledger nets to exactly zero, then rolls itself back.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883664"/>
            <a:ext cx="2578608" cy="2450592"/>
          </a:xfrm>
          <a:prstGeom prst="roundRect">
            <a:avLst>
              <a:gd name="adj" fmla="val 3358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· React 19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Vercel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14553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session, camera upload for work proof, in-browser video rendering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883664"/>
            <a:ext cx="2578608" cy="2450592"/>
          </a:xfrm>
          <a:prstGeom prst="roundRect">
            <a:avLst>
              <a:gd name="adj" fmla="val 3358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85032" y="2450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Render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85032" y="314553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SDP proxy, tool-call validation, vision, jury, narration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1883664"/>
            <a:ext cx="2578608" cy="2450592"/>
          </a:xfrm>
          <a:prstGeom prst="roundRect">
            <a:avLst>
              <a:gd name="adj" fmla="val 3358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55664" y="2450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· Realtime · 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314553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vault, immutable ledger, live push to both parties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70264" y="1883664"/>
            <a:ext cx="2578608" cy="2450592"/>
          </a:xfrm>
          <a:prstGeom prst="roundRect">
            <a:avLst>
              <a:gd name="adj" fmla="val 3358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26296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26296" y="2450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gpt-realtime-2.1 · GPT-4o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26296" y="314553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arbitration, vision verification, jury, TTS narration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4590288"/>
            <a:ext cx="10844784" cy="1517904"/>
          </a:xfrm>
          <a:prstGeom prst="roundRect">
            <a:avLst>
              <a:gd name="adj" fmla="val 5422"/>
            </a:avLst>
          </a:prstGeom>
          <a:solidFill>
            <a:srgbClr val="1A2230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754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decisions worth defending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" y="5084064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OpenAI key never reaches the browser — the WebRTC handshake is proxied through FastAPI, so the credential stays server-side for the whole session.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5084064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Two-party remote voice runs peer-to-peer, bridged through the host and signalled over Supabase Realtime — no SFU, no third-party media service, no per-minute cost.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688336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holds the funds so neither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EA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has to trust the other.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58368" y="4206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7A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production. Sign up with any email for a $2,500 demonstration balance and run a full deal — negotiation, escrow lock, verification, settlement, and a shareable receipt.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58368" y="5175504"/>
            <a:ext cx="3493008" cy="841248"/>
          </a:xfrm>
          <a:prstGeom prst="roundRect">
            <a:avLst>
              <a:gd name="adj" fmla="val 9783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5285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932688" y="55229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aiges-eight.vercel.app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5175504"/>
            <a:ext cx="3493008" cy="841248"/>
          </a:xfrm>
          <a:prstGeom prst="roundRect">
            <a:avLst>
              <a:gd name="adj" fmla="val 9783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5285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617720" y="55229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github.com/SumedhKolte/aegis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28432" y="5175504"/>
            <a:ext cx="3493008" cy="841248"/>
          </a:xfrm>
          <a:prstGeom prst="roundRect">
            <a:avLst>
              <a:gd name="adj" fmla="val 9783"/>
            </a:avLst>
          </a:prstGeom>
          <a:solidFill>
            <a:srgbClr val="121821"/>
          </a:solidFill>
          <a:ln w="12700">
            <a:solidFill>
              <a:srgbClr val="27313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02752" y="5285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health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302752" y="55229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aiges-g41k.onrender.com/health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8368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Sumedh Kolte  ·  AI for Impact — Independence Day Hackathon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— The Viral P2P Trust Engine</dc:title>
  <dc:subject>PptxGenJS Presentation</dc:subject>
  <dc:creator>Sumedh Kolte</dc:creator>
  <cp:lastModifiedBy>Sumedh Kolte</cp:lastModifiedBy>
  <cp:revision>1</cp:revision>
  <dcterms:created xsi:type="dcterms:W3CDTF">2026-08-15T12:46:14Z</dcterms:created>
  <dcterms:modified xsi:type="dcterms:W3CDTF">2026-08-15T12:46:14Z</dcterms:modified>
</cp:coreProperties>
</file>